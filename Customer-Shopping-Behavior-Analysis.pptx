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Bold" panose="020B0604020202020204" charset="0"/>
      <p:regular r:id="rId13"/>
    </p:embeddedFont>
    <p:embeddedFont>
      <p:font typeface="Barlow Light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" panose="020B0604020202020204" charset="0"/>
      <p:regular r:id="rId19"/>
    </p:embeddedFont>
    <p:embeddedFont>
      <p:font typeface="Montserrat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71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808038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Shopping Behavior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902000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insights from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3,900 transactions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demographics, preferences, and spending patterns.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188D-FCEB-4D38-9CE8-512C99029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075" y="486153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38498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622375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3,900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589782" y="223837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56609" y="1622375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772448" y="223837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3943" y="2799457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37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589782" y="341545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943" y="3719289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 only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56609" y="2799457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$59.76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5772448" y="341545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Avg Purchase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3943" y="4088309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 span demographics, purchase details, and shopping behavior.</a:t>
            </a: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EC9982-4331-4E7C-8E1A-7648A5264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075" y="4868309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10617"/>
            <a:ext cx="4337372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Preparation in Python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02943" y="993800"/>
            <a:ext cx="249659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02943" y="1191592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6" name="Text 3"/>
          <p:cNvSpPr/>
          <p:nvPr/>
        </p:nvSpPr>
        <p:spPr>
          <a:xfrm>
            <a:off x="3902943" y="1282526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02943" y="1556742"/>
            <a:ext cx="47671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pandas, df.info(), describe()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02943" y="1957313"/>
            <a:ext cx="249659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02943" y="2142679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0" name="Text 7"/>
          <p:cNvSpPr/>
          <p:nvPr/>
        </p:nvSpPr>
        <p:spPr>
          <a:xfrm>
            <a:off x="3902943" y="2246040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 &amp; Impute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02943" y="2520255"/>
            <a:ext cx="47671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fill for Review Rating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02943" y="2920826"/>
            <a:ext cx="249659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02943" y="3093690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4" name="Text 11"/>
          <p:cNvSpPr/>
          <p:nvPr/>
        </p:nvSpPr>
        <p:spPr>
          <a:xfrm>
            <a:off x="3902943" y="3209553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902943" y="3483769"/>
            <a:ext cx="47671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age_group, purchase_frequency_days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02943" y="3884340"/>
            <a:ext cx="249659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02943" y="4044776"/>
            <a:ext cx="4767114" cy="14288"/>
          </a:xfrm>
          <a:prstGeom prst="rect">
            <a:avLst/>
          </a:prstGeom>
          <a:solidFill>
            <a:srgbClr val="4296CD"/>
          </a:solidFill>
          <a:ln/>
        </p:spPr>
      </p:sp>
      <p:sp>
        <p:nvSpPr>
          <p:cNvPr id="18" name="Text 15"/>
          <p:cNvSpPr/>
          <p:nvPr/>
        </p:nvSpPr>
        <p:spPr>
          <a:xfrm>
            <a:off x="3902943" y="4173066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02943" y="4447282"/>
            <a:ext cx="47671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Cleaned DataFrame to DB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135F17-6F46-41F3-A3BA-829E122C7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075" y="486153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Gender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customers generate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2.1× more revenue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female customers — a critical segmentation insight.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962" y="2407295"/>
            <a:ext cx="3932858" cy="527893"/>
          </a:xfrm>
          <a:prstGeom prst="roundRect">
            <a:avLst>
              <a:gd name="adj" fmla="val 38478"/>
            </a:avLst>
          </a:prstGeom>
          <a:solidFill>
            <a:srgbClr val="D4E9F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21" y="2615133"/>
            <a:ext cx="169218" cy="135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898" y="2562895"/>
            <a:ext cx="381476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Male: $157,890 · Female: $75,191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180F2-55A9-4286-8CD4-E7A7A4DA9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75" y="486153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5648102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Subscribers vs. Non-Subscribers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Insight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 drive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73%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customers and </a:t>
            </a: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73%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revenue. Huge opportunity to convert.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1962" y="2376785"/>
            <a:ext cx="3932858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spend nearly identical (~$59.50)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Subscribers: 27% of base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E70B5-DF92-419B-AAB9-328F174D8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514" y="4852644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55488"/>
            <a:ext cx="4306267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Segmentation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256333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239366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Segment Breakdown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1962" y="1614339"/>
            <a:ext cx="3932858" cy="883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72571" y="176874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 — 80%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972571" y="2126754"/>
            <a:ext cx="354783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3,116 customers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1962" y="2633216"/>
            <a:ext cx="3932858" cy="883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72571" y="278762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Returning — 18%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972571" y="3145631"/>
            <a:ext cx="354783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701 customers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1962" y="3652093"/>
            <a:ext cx="3932858" cy="8835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72571" y="3806503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New — 2%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972571" y="4164509"/>
            <a:ext cx="354783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 customers</a:t>
            </a: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0594F-636C-4EE8-A718-AFD31BAB9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075" y="485264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33723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Products &amp; Discounts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517600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Rated Products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3943" y="1892573"/>
            <a:ext cx="3932858" cy="2364879"/>
          </a:xfrm>
          <a:prstGeom prst="roundRect">
            <a:avLst>
              <a:gd name="adj" fmla="val 85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4139" y="1983284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Item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68079" y="1983284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4139" y="2376636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68079" y="2376636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4139" y="2769989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Sandals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68079" y="2769989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4139" y="3163342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68079" y="3163342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4139" y="3556695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68079" y="3556695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4139" y="3950047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68079" y="3950047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3.78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1962" y="1517600"/>
            <a:ext cx="228912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Highest Discount Rates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41962" y="1892573"/>
            <a:ext cx="3932858" cy="2364879"/>
          </a:xfrm>
          <a:prstGeom prst="roundRect">
            <a:avLst>
              <a:gd name="adj" fmla="val 85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158" y="1983284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Item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36098" y="1983284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Discount 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82158" y="2376636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36098" y="2376636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158" y="2769989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Sneakers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36098" y="2769989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49.66%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82158" y="3163342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36098" y="3163342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49.07%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82158" y="3556695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Sweater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36098" y="3556695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48.17%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82158" y="3950047"/>
            <a:ext cx="254042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36098" y="3950047"/>
            <a:ext cx="175580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47.37%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C986549-0233-438E-9217-B8268D036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075" y="486153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 Group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Insight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Young Adults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 revenue at $62K. Revenue is fairly distributed — all groups are valuable targets.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962" y="2407295"/>
            <a:ext cx="3932858" cy="744587"/>
          </a:xfrm>
          <a:prstGeom prst="roundRect">
            <a:avLst>
              <a:gd name="adj" fmla="val 27280"/>
            </a:avLst>
          </a:prstGeom>
          <a:solidFill>
            <a:srgbClr val="D4E9F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21" y="2615133"/>
            <a:ext cx="169218" cy="135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898" y="2562895"/>
            <a:ext cx="335756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 shipping users spend slightly more ($60.48 vs $58.46)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3ADA52-4698-4253-86A8-2644C3ADB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75" y="486153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745778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73943" y="1394296"/>
            <a:ext cx="4767114" cy="502890"/>
          </a:xfrm>
          <a:prstGeom prst="roundRect">
            <a:avLst>
              <a:gd name="adj" fmla="val 4039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4065" y="153441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3.9K Customers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3943" y="2032546"/>
            <a:ext cx="4767114" cy="502890"/>
          </a:xfrm>
          <a:prstGeom prst="roundRect">
            <a:avLst>
              <a:gd name="adj" fmla="val 4039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065" y="217266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$59.76 Avg Purchase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3943" y="2670795"/>
            <a:ext cx="4767114" cy="502890"/>
          </a:xfrm>
          <a:prstGeom prst="roundRect">
            <a:avLst>
              <a:gd name="adj" fmla="val 4039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065" y="281091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3.75 Avg Rating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3943" y="3309045"/>
            <a:ext cx="4767114" cy="502890"/>
          </a:xfrm>
          <a:prstGeom prst="roundRect">
            <a:avLst>
              <a:gd name="adj" fmla="val 4039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065" y="344916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27% Subscribers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3943" y="3964260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views: subscription status, revenue by category, sales by age group.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707231"/>
            <a:ext cx="491735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Recommendations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1355750"/>
            <a:ext cx="270793" cy="2707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2954" y="140225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342954" y="1706091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2943" y="2193578"/>
            <a:ext cx="270793" cy="2707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2954" y="224008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342954" y="2543919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→ Loyal segment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2943" y="3031406"/>
            <a:ext cx="270793" cy="2707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2954" y="3077914"/>
            <a:ext cx="181503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Review Discount Policy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342954" y="3381747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sales lift with margin control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02943" y="3869234"/>
            <a:ext cx="270793" cy="2707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2954" y="3915742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342954" y="4219575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high-revenue age groups &amp; express shipping users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24D04C-10EC-42B0-BE7D-4F2AADAFAD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6075" y="4861536"/>
            <a:ext cx="1447925" cy="281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Montserrat Bold</vt:lpstr>
      <vt:lpstr>Barlow Bold</vt:lpstr>
      <vt:lpstr>Barlow Light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Anurag Verma</cp:lastModifiedBy>
  <cp:revision>2</cp:revision>
  <dcterms:created xsi:type="dcterms:W3CDTF">2026-07-05T09:09:42Z</dcterms:created>
  <dcterms:modified xsi:type="dcterms:W3CDTF">2026-07-05T09:12:28Z</dcterms:modified>
</cp:coreProperties>
</file>